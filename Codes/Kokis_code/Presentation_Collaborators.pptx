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68" r:id="rId5"/>
    <p:sldId id="267" r:id="rId6"/>
    <p:sldId id="259" r:id="rId7"/>
    <p:sldId id="269" r:id="rId8"/>
    <p:sldId id="270" r:id="rId9"/>
    <p:sldId id="264" r:id="rId10"/>
    <p:sldId id="265" r:id="rId1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55a1de90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e55a1de90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e55a1de90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e55a1de90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e55a1de90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e55a1de90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5782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e55a1de90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e55a1de90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6609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e55a1de90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e55a1de901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e55a1de90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e55a1de901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5684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e55a1de90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e55a1de901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69554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55a1de901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e55a1de901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06576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55a1de901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e55a1de901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9933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SFBX1200"/>
              </a:rPr>
              <a:t>Many-body localization in a driven-dissipative cavity mode</a:t>
            </a:r>
            <a:r>
              <a:rPr lang="en-US" sz="2800" dirty="0"/>
              <a:t> </a:t>
            </a:r>
            <a:endParaRPr sz="28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600" dirty="0">
                <a:solidFill>
                  <a:srgbClr val="000000"/>
                </a:solidFill>
                <a:latin typeface="+mj-lt"/>
              </a:rPr>
              <a:t>Koki Chinze, Saeed Rahmanian Koshkaki, Mohsen Yarmohammadi, Michael Kolodrubetz</a:t>
            </a:r>
            <a:endParaRPr sz="1600" dirty="0">
              <a:solidFill>
                <a:srgbClr val="00000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20950" y="90775"/>
            <a:ext cx="8932200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Motivation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86900" y="682425"/>
            <a:ext cx="8966100" cy="43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tx1"/>
                </a:solidFill>
                <a:latin typeface="+mj-lt"/>
              </a:rPr>
              <a:t>Many body localization in cavity QED systems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6261700" y="679775"/>
            <a:ext cx="157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cavity-matter coupling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9498" y="2933700"/>
            <a:ext cx="3209002" cy="19818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14"/>
          <p:cNvGrpSpPr/>
          <p:nvPr/>
        </p:nvGrpSpPr>
        <p:grpSpPr>
          <a:xfrm>
            <a:off x="4401006" y="1129380"/>
            <a:ext cx="4571700" cy="681517"/>
            <a:chOff x="-2834025" y="1749247"/>
            <a:chExt cx="10550888" cy="1576855"/>
          </a:xfrm>
        </p:grpSpPr>
        <p:pic>
          <p:nvPicPr>
            <p:cNvPr id="66" name="Google Shape;66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2834025" y="1749247"/>
              <a:ext cx="9143999" cy="15768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145238" y="2095500"/>
              <a:ext cx="1571625" cy="9525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8" name="Google Shape;68;p14"/>
          <p:cNvCxnSpPr/>
          <p:nvPr/>
        </p:nvCxnSpPr>
        <p:spPr>
          <a:xfrm flipH="1">
            <a:off x="7009450" y="1084263"/>
            <a:ext cx="78300" cy="222300"/>
          </a:xfrm>
          <a:prstGeom prst="straightConnector1">
            <a:avLst/>
          </a:prstGeom>
          <a:noFill/>
          <a:ln w="9525" cap="flat" cmpd="sng">
            <a:solidFill>
              <a:srgbClr val="1F497D"/>
            </a:solidFill>
            <a:prstDash val="solid"/>
            <a:round/>
            <a:headEnd type="none" w="sm" len="sm"/>
            <a:tailEnd type="triangle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579F6B5-CCA4-28DA-22D2-3D020368A2CF}"/>
                  </a:ext>
                </a:extLst>
              </p:cNvPr>
              <p:cNvSpPr txBox="1"/>
              <p:nvPr/>
            </p:nvSpPr>
            <p:spPr>
              <a:xfrm>
                <a:off x="166816" y="1129380"/>
                <a:ext cx="3209003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+mj-lt"/>
                  </a:rPr>
                  <a:t>In our recent works [PRL 122 (24) 240402 (2019), PRB 103 (13)134201(2021), PRB 105 (6) L060303 (2022)] we showed that MBL can scurvies long range interaction induced by a cavity. In these systems we used high frequency expansion to microscopically describe the localization dynamic. If we assume large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>
                    <a:latin typeface="+mj-lt"/>
                  </a:rPr>
                  <a:t> (But not too large so different photon sectors have finite overlap), the density of state is given as the front figure. In this model, for cavity photons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j-lt"/>
                  </a:rPr>
                  <a:t>, we showed that MBL phase survives up to a finite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dirty="0">
                    <a:latin typeface="+mj-lt"/>
                  </a:rPr>
                  <a:t>. This regime we studied was a weak coupling regime between cavity and matter.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579F6B5-CCA4-28DA-22D2-3D020368A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6" y="1129380"/>
                <a:ext cx="3209003" cy="3970318"/>
              </a:xfrm>
              <a:prstGeom prst="rect">
                <a:avLst/>
              </a:prstGeom>
              <a:blipFill>
                <a:blip r:embed="rId6"/>
                <a:stretch>
                  <a:fillRect l="-569" t="-153" r="-949" b="-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oogle Shape;64;p14">
            <a:extLst>
              <a:ext uri="{FF2B5EF4-FFF2-40B4-BE49-F238E27FC236}">
                <a16:creationId xmlns:a16="http://schemas.microsoft.com/office/drawing/2014/main" id="{C8349FCB-F965-6A7A-2072-12DDB6701623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77217" y="2698367"/>
            <a:ext cx="2788689" cy="2217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120950" y="90775"/>
            <a:ext cx="8932200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Open cavity model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Google Shape;74;p1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04000" y="696050"/>
                <a:ext cx="8966100" cy="4369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 lnSpcReduction="10000"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dk1"/>
                    </a:solidFill>
                  </a:rPr>
                  <a:t>Many body localization in open cavity QED </a:t>
                </a:r>
                <a:br>
                  <a:rPr lang="en-US" dirty="0">
                    <a:solidFill>
                      <a:schemeClr val="dk1"/>
                    </a:solidFill>
                  </a:rPr>
                </a:br>
                <a:endParaRPr lang="en-US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600" dirty="0">
                    <a:solidFill>
                      <a:schemeClr val="dk1"/>
                    </a:solidFill>
                  </a:rPr>
                  <a:t>In our next attempt, we tried to expand our model </a:t>
                </a:r>
                <a:br>
                  <a:rPr lang="en-US" sz="1600" dirty="0">
                    <a:solidFill>
                      <a:schemeClr val="dk1"/>
                    </a:solidFill>
                  </a:rPr>
                </a:br>
                <a:r>
                  <a:rPr lang="en-US" sz="1600" dirty="0">
                    <a:solidFill>
                      <a:schemeClr val="dk1"/>
                    </a:solidFill>
                  </a:rPr>
                  <a:t>to include photon loss. In this mode, we have a </a:t>
                </a:r>
                <a:br>
                  <a:rPr lang="en-US" sz="1600" dirty="0">
                    <a:solidFill>
                      <a:schemeClr val="dk1"/>
                    </a:solidFill>
                  </a:rPr>
                </a:br>
                <a:r>
                  <a:rPr lang="en-US" sz="1600" dirty="0">
                    <a:solidFill>
                      <a:schemeClr val="dk1"/>
                    </a:solidFill>
                  </a:rPr>
                  <a:t>transverse field </a:t>
                </a:r>
                <a:r>
                  <a:rPr lang="en-US" sz="1600" dirty="0" err="1">
                    <a:solidFill>
                      <a:schemeClr val="dk1"/>
                    </a:solidFill>
                  </a:rPr>
                  <a:t>Ising</a:t>
                </a:r>
                <a:r>
                  <a:rPr lang="en-US" sz="1600" dirty="0">
                    <a:solidFill>
                      <a:schemeClr val="dk1"/>
                    </a:solidFill>
                  </a:rPr>
                  <a:t> spin coupled to a single </a:t>
                </a:r>
                <a:br>
                  <a:rPr lang="en-US" sz="1600" dirty="0">
                    <a:solidFill>
                      <a:schemeClr val="dk1"/>
                    </a:solidFill>
                  </a:rPr>
                </a:br>
                <a:r>
                  <a:rPr lang="en-US" sz="1600" dirty="0">
                    <a:solidFill>
                      <a:schemeClr val="dk1"/>
                    </a:solidFill>
                  </a:rPr>
                  <a:t>mode cavity. The coupling is  through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dk1"/>
                    </a:solidFill>
                  </a:rPr>
                  <a:t>, and we </a:t>
                </a:r>
                <a:br>
                  <a:rPr lang="en-US" sz="1600" dirty="0">
                    <a:solidFill>
                      <a:schemeClr val="dk1"/>
                    </a:solidFill>
                  </a:rPr>
                </a:br>
                <a:r>
                  <a:rPr lang="en-US" sz="1600" dirty="0">
                    <a:solidFill>
                      <a:schemeClr val="dk1"/>
                    </a:solidFill>
                  </a:rPr>
                  <a:t>don’t use rotating wave approximation. In this </a:t>
                </a:r>
                <a:br>
                  <a:rPr lang="en-US" sz="1600" dirty="0">
                    <a:solidFill>
                      <a:schemeClr val="dk1"/>
                    </a:solidFill>
                  </a:rPr>
                </a:br>
                <a:r>
                  <a:rPr lang="en-US" sz="1600" dirty="0">
                    <a:solidFill>
                      <a:schemeClr val="dk1"/>
                    </a:solidFill>
                  </a:rPr>
                  <a:t>model as it is shown in the figure, cavity is coupled</a:t>
                </a:r>
                <a:br>
                  <a:rPr lang="en-US" sz="1600" dirty="0">
                    <a:solidFill>
                      <a:schemeClr val="dk1"/>
                    </a:solidFill>
                  </a:rPr>
                </a:br>
                <a:r>
                  <a:rPr lang="en-US" sz="1600" dirty="0">
                    <a:solidFill>
                      <a:schemeClr val="dk1"/>
                    </a:solidFill>
                  </a:rPr>
                  <a:t>to a cold bosonic bath (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sz="1600" dirty="0">
                    <a:solidFill>
                      <a:schemeClr val="dk1"/>
                    </a:solidFill>
                  </a:rPr>
                  <a:t>) but spin are not coupled</a:t>
                </a:r>
                <a:br>
                  <a:rPr lang="en-US" sz="1600" dirty="0">
                    <a:solidFill>
                      <a:schemeClr val="dk1"/>
                    </a:solidFill>
                  </a:rPr>
                </a:br>
                <a:r>
                  <a:rPr lang="en-US" sz="1600" dirty="0">
                    <a:solidFill>
                      <a:schemeClr val="dk1"/>
                    </a:solidFill>
                  </a:rPr>
                  <a:t>to any sort of bath. The cavity is also pumped at </a:t>
                </a:r>
                <a:br>
                  <a:rPr lang="en-US" sz="1600" dirty="0">
                    <a:solidFill>
                      <a:schemeClr val="dk1"/>
                    </a:solidFill>
                  </a:rPr>
                </a:br>
                <a:r>
                  <a:rPr lang="en-US" sz="1600" dirty="0">
                    <a:solidFill>
                      <a:schemeClr val="dk1"/>
                    </a:solidFill>
                  </a:rPr>
                  <a:t>rate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1600" dirty="0">
                    <a:solidFill>
                      <a:schemeClr val="dk1"/>
                    </a:solidFill>
                  </a:rPr>
                  <a:t>) but displacing photon by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600" dirty="0">
                    <a:solidFill>
                      <a:schemeClr val="dk1"/>
                    </a:solidFill>
                  </a:rPr>
                  <a:t>, we </a:t>
                </a:r>
                <a:br>
                  <a:rPr lang="en-US" sz="1600" dirty="0">
                    <a:solidFill>
                      <a:schemeClr val="dk1"/>
                    </a:solidFill>
                  </a:rPr>
                </a:br>
                <a:r>
                  <a:rPr lang="en-US" sz="1600" dirty="0">
                    <a:solidFill>
                      <a:schemeClr val="dk1"/>
                    </a:solidFill>
                  </a:rPr>
                  <a:t>can eliminate pumping term. Final form of the </a:t>
                </a:r>
                <a:br>
                  <a:rPr lang="en-US" sz="1600" dirty="0">
                    <a:solidFill>
                      <a:schemeClr val="dk1"/>
                    </a:solidFill>
                  </a:rPr>
                </a:br>
                <a:r>
                  <a:rPr lang="en-US" sz="1600" dirty="0">
                    <a:solidFill>
                      <a:schemeClr val="dk1"/>
                    </a:solidFill>
                  </a:rPr>
                  <a:t>Hamiltonian is given above.</a:t>
                </a:r>
                <a:br>
                  <a:rPr lang="en-US" sz="1600" dirty="0">
                    <a:solidFill>
                      <a:schemeClr val="dk1"/>
                    </a:solidFill>
                  </a:rPr>
                </a:br>
                <a:br>
                  <a:rPr lang="en-US" sz="1600" dirty="0">
                    <a:solidFill>
                      <a:schemeClr val="dk1"/>
                    </a:solidFill>
                  </a:rPr>
                </a:br>
                <a:r>
                  <a:rPr lang="en-US" sz="1600" dirty="0">
                    <a:solidFill>
                      <a:schemeClr val="dk1"/>
                    </a:solidFill>
                  </a:rPr>
                  <a:t>In this model we are investigating, the possibility of </a:t>
                </a:r>
                <a:endParaRPr sz="1600" dirty="0">
                  <a:solidFill>
                    <a:schemeClr val="dk1"/>
                  </a:solidFill>
                </a:endParaRPr>
              </a:p>
            </p:txBody>
          </p:sp>
        </mc:Choice>
        <mc:Fallback>
          <p:sp>
            <p:nvSpPr>
              <p:cNvPr id="74" name="Google Shape;74;p1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4000" y="696050"/>
                <a:ext cx="8966100" cy="4369800"/>
              </a:xfrm>
              <a:prstGeom prst="rect">
                <a:avLst/>
              </a:prstGeom>
              <a:blipFill>
                <a:blip r:embed="rId3"/>
                <a:stretch>
                  <a:fillRect l="-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6950" y="861975"/>
            <a:ext cx="4004525" cy="149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6363" y="147637"/>
            <a:ext cx="967625" cy="27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97233" y="147637"/>
            <a:ext cx="1497125" cy="223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5"/>
          <p:cNvCxnSpPr/>
          <p:nvPr/>
        </p:nvCxnSpPr>
        <p:spPr>
          <a:xfrm>
            <a:off x="6825500" y="419650"/>
            <a:ext cx="0" cy="45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" name="Google Shape;82;p15"/>
          <p:cNvSpPr txBox="1"/>
          <p:nvPr/>
        </p:nvSpPr>
        <p:spPr>
          <a:xfrm>
            <a:off x="5232075" y="451200"/>
            <a:ext cx="17643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Photon displacement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BE5E183D-297D-9261-65EC-8FCBF371EF0B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75088" y="2275850"/>
            <a:ext cx="4388249" cy="17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1;p15">
            <a:extLst>
              <a:ext uri="{FF2B5EF4-FFF2-40B4-BE49-F238E27FC236}">
                <a16:creationId xmlns:a16="http://schemas.microsoft.com/office/drawing/2014/main" id="{1AECD9AA-7E87-9614-28A8-72477CE3CE7F}"/>
              </a:ext>
            </a:extLst>
          </p:cNvPr>
          <p:cNvSpPr txBox="1"/>
          <p:nvPr/>
        </p:nvSpPr>
        <p:spPr>
          <a:xfrm>
            <a:off x="5095100" y="3989450"/>
            <a:ext cx="3685500" cy="10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+mj-lt"/>
              </a:rPr>
              <a:t>𝜅: Coupling to a cold bosonic bath</a:t>
            </a:r>
            <a:br>
              <a:rPr lang="en" dirty="0">
                <a:solidFill>
                  <a:schemeClr val="dk1"/>
                </a:solidFill>
                <a:latin typeface="+mj-lt"/>
              </a:rPr>
            </a:br>
            <a:r>
              <a:rPr lang="en" dirty="0">
                <a:solidFill>
                  <a:schemeClr val="dk1"/>
                </a:solidFill>
                <a:latin typeface="+mj-lt"/>
              </a:rPr>
              <a:t>𝜔: Cavity transition frequency</a:t>
            </a:r>
            <a:br>
              <a:rPr lang="en" dirty="0">
                <a:solidFill>
                  <a:schemeClr val="dk1"/>
                </a:solidFill>
                <a:latin typeface="+mj-lt"/>
              </a:rPr>
            </a:br>
            <a:r>
              <a:rPr lang="en" dirty="0">
                <a:solidFill>
                  <a:schemeClr val="dk1"/>
                </a:solidFill>
                <a:latin typeface="+mj-lt"/>
              </a:rPr>
              <a:t>ꭥ: Pumping rate to the cavity</a:t>
            </a:r>
            <a:br>
              <a:rPr lang="en" dirty="0">
                <a:solidFill>
                  <a:schemeClr val="dk1"/>
                </a:solidFill>
                <a:latin typeface="+mj-lt"/>
              </a:rPr>
            </a:br>
            <a:r>
              <a:rPr lang="en" dirty="0">
                <a:solidFill>
                  <a:schemeClr val="dk1"/>
                </a:solidFill>
                <a:latin typeface="+mj-lt"/>
              </a:rPr>
              <a:t>𝛾: coupling to the virtual thermometer</a:t>
            </a:r>
            <a:endParaRPr dirty="0">
              <a:solidFill>
                <a:schemeClr val="dk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120950" y="90775"/>
            <a:ext cx="8932200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cavity model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Google Shape;74;p1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04000" y="696050"/>
                <a:ext cx="8966100" cy="4369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 lnSpcReduction="10000"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dk1"/>
                    </a:solidFill>
                  </a:rPr>
                  <a:t>Many body localization in open cavity QED </a:t>
                </a:r>
                <a:br>
                  <a:rPr lang="en-US" dirty="0">
                    <a:solidFill>
                      <a:schemeClr val="dk1"/>
                    </a:solidFill>
                  </a:rPr>
                </a:br>
                <a:endParaRPr lang="en-US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dirty="0">
                    <a:solidFill>
                      <a:schemeClr val="dk1"/>
                    </a:solidFill>
                  </a:rPr>
                  <a:t>stability of the MBL phase, even if the cavity can </a:t>
                </a:r>
                <a:br>
                  <a:rPr lang="en-US" sz="1600" dirty="0">
                    <a:solidFill>
                      <a:schemeClr val="dk1"/>
                    </a:solidFill>
                  </a:rPr>
                </a:br>
                <a:r>
                  <a:rPr lang="en-US" sz="1600" dirty="0">
                    <a:solidFill>
                      <a:schemeClr val="dk1"/>
                    </a:solidFill>
                  </a:rPr>
                  <a:t>loose particles. For this model, Lindblad master</a:t>
                </a:r>
                <a:br>
                  <a:rPr lang="en-US" sz="1600" dirty="0">
                    <a:solidFill>
                      <a:schemeClr val="dk1"/>
                    </a:solidFill>
                  </a:rPr>
                </a:br>
                <a:r>
                  <a:rPr lang="en-US" sz="1600" dirty="0">
                    <a:solidFill>
                      <a:schemeClr val="dk1"/>
                    </a:solidFill>
                  </a:rPr>
                  <a:t>equation is given by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600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dirty="0">
                    <a:solidFill>
                      <a:schemeClr val="dk1"/>
                    </a:solidFill>
                  </a:rPr>
                  <a:t>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600" dirty="0">
                  <a:solidFill>
                    <a:schemeClr val="dk1"/>
                  </a:solidFill>
                </a:endParaRPr>
              </a:p>
              <a:p>
                <a:pPr marL="0" lvl="0" indent="0">
                  <a:buNone/>
                </a:pPr>
                <a:r>
                  <a:rPr lang="en-US" sz="1600" dirty="0">
                    <a:solidFill>
                      <a:schemeClr val="tx1"/>
                    </a:solidFill>
                  </a:rPr>
                  <a:t>where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ρ </a:t>
                </a:r>
                <a:r>
                  <a:rPr lang="en-US" sz="1600" dirty="0">
                    <a:solidFill>
                      <a:schemeClr val="tx1"/>
                    </a:solidFill>
                  </a:rPr>
                  <a:t>is the density matrix of the full cavity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and spin system, and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are collapse operators.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T</a:t>
                </a:r>
                <a:r>
                  <a:rPr lang="en-US" sz="1600" dirty="0">
                    <a:solidFill>
                      <a:schemeClr val="dk1"/>
                    </a:solidFill>
                  </a:rPr>
                  <a:t>o check the stability of the MBL phase, we</a:t>
                </a:r>
                <a:br>
                  <a:rPr lang="en-US" sz="1600" dirty="0">
                    <a:solidFill>
                      <a:schemeClr val="dk1"/>
                    </a:solidFill>
                  </a:rPr>
                </a:br>
                <a:r>
                  <a:rPr lang="en-US" sz="1600" dirty="0">
                    <a:solidFill>
                      <a:schemeClr val="dk1"/>
                    </a:solidFill>
                  </a:rPr>
                  <a:t>measure the local temperature of spins by </a:t>
                </a:r>
                <a:br>
                  <a:rPr lang="en-US" sz="1600" dirty="0">
                    <a:solidFill>
                      <a:schemeClr val="dk1"/>
                    </a:solidFill>
                  </a:rPr>
                </a:br>
                <a:r>
                  <a:rPr lang="en-US" sz="1600" dirty="0">
                    <a:solidFill>
                      <a:schemeClr val="dk1"/>
                    </a:solidFill>
                  </a:rPr>
                  <a:t>connecting each site to a virtual thermometer (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600" dirty="0">
                    <a:solidFill>
                      <a:schemeClr val="dk1"/>
                    </a:solidFill>
                  </a:rPr>
                  <a:t>).</a:t>
                </a:r>
                <a:br>
                  <a:rPr lang="en-US" sz="1600" dirty="0">
                    <a:solidFill>
                      <a:schemeClr val="dk1"/>
                    </a:solidFill>
                  </a:rPr>
                </a:br>
                <a:r>
                  <a:rPr lang="en-US" sz="1600" dirty="0">
                    <a:solidFill>
                      <a:schemeClr val="dk1"/>
                    </a:solidFill>
                  </a:rPr>
                  <a:t>Then by calculating temperature fluctuation </a:t>
                </a:r>
              </a:p>
              <a:p>
                <a:pPr marL="0" lvl="0" indent="0">
                  <a:buNone/>
                </a:pPr>
                <a:r>
                  <a:rPr lang="en-US" sz="1600" dirty="0">
                    <a:solidFill>
                      <a:schemeClr val="dk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sz="1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1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600" dirty="0">
                    <a:solidFill>
                      <a:schemeClr val="dk1"/>
                    </a:solidFill>
                  </a:rPr>
                  <a:t> we study the following </a:t>
                </a:r>
                <a:r>
                  <a:rPr lang="en" sz="1600" dirty="0">
                    <a:solidFill>
                      <a:schemeClr val="dk1"/>
                    </a:solidFill>
                  </a:rPr>
                  <a:t>regimes</a:t>
                </a:r>
                <a:endParaRPr lang="en-US" sz="1600" dirty="0">
                  <a:solidFill>
                    <a:schemeClr val="dk1"/>
                  </a:solidFill>
                </a:endParaRPr>
              </a:p>
            </p:txBody>
          </p:sp>
        </mc:Choice>
        <mc:Fallback>
          <p:sp>
            <p:nvSpPr>
              <p:cNvPr id="74" name="Google Shape;74;p1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4000" y="696050"/>
                <a:ext cx="8966100" cy="4369800"/>
              </a:xfrm>
              <a:prstGeom prst="rect">
                <a:avLst/>
              </a:prstGeom>
              <a:blipFill>
                <a:blip r:embed="rId3"/>
                <a:stretch>
                  <a:fillRect l="-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6950" y="861975"/>
            <a:ext cx="4004525" cy="149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6363" y="147637"/>
            <a:ext cx="967625" cy="27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97233" y="147637"/>
            <a:ext cx="1497125" cy="223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5"/>
          <p:cNvCxnSpPr/>
          <p:nvPr/>
        </p:nvCxnSpPr>
        <p:spPr>
          <a:xfrm>
            <a:off x="6825500" y="419650"/>
            <a:ext cx="0" cy="45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" name="Google Shape;82;p15"/>
          <p:cNvSpPr txBox="1"/>
          <p:nvPr/>
        </p:nvSpPr>
        <p:spPr>
          <a:xfrm>
            <a:off x="5232075" y="451200"/>
            <a:ext cx="17643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Photon displacement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BE5E183D-297D-9261-65EC-8FCBF371EF0B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75088" y="2275850"/>
            <a:ext cx="4388249" cy="17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1;p15">
            <a:extLst>
              <a:ext uri="{FF2B5EF4-FFF2-40B4-BE49-F238E27FC236}">
                <a16:creationId xmlns:a16="http://schemas.microsoft.com/office/drawing/2014/main" id="{1AECD9AA-7E87-9614-28A8-72477CE3CE7F}"/>
              </a:ext>
            </a:extLst>
          </p:cNvPr>
          <p:cNvSpPr txBox="1"/>
          <p:nvPr/>
        </p:nvSpPr>
        <p:spPr>
          <a:xfrm>
            <a:off x="5095100" y="3989450"/>
            <a:ext cx="3685500" cy="10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𝜅: Coupling to a cold bosonic bath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𝜔: Cavity transition frequency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ꭥ: Pumping rate to the cavity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𝛾: coupling to the virtual thermometer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4" name="Google Shape;76;p15">
            <a:extLst>
              <a:ext uri="{FF2B5EF4-FFF2-40B4-BE49-F238E27FC236}">
                <a16:creationId xmlns:a16="http://schemas.microsoft.com/office/drawing/2014/main" id="{3952134B-6F3F-7221-2286-9264AD277FE7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7575" y="2208350"/>
            <a:ext cx="4449475" cy="672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9130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120950" y="90775"/>
            <a:ext cx="8932200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cavity model</a:t>
            </a: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104000" y="696050"/>
            <a:ext cx="8966100" cy="43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Many body localization in open cavity QED </a:t>
            </a:r>
            <a:br>
              <a:rPr lang="en" dirty="0">
                <a:solidFill>
                  <a:schemeClr val="dk1"/>
                </a:solidFill>
              </a:rPr>
            </a:br>
            <a:endParaRPr lang="en" dirty="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Small coupling to the bath (perturbative) (𝜅→0</a:t>
            </a:r>
            <a:r>
              <a:rPr lang="en-US" sz="1600" baseline="30000" dirty="0">
                <a:solidFill>
                  <a:schemeClr val="dk1"/>
                </a:solidFill>
              </a:rPr>
              <a:t>+</a:t>
            </a:r>
            <a:r>
              <a:rPr lang="en-US" sz="1600" dirty="0">
                <a:solidFill>
                  <a:schemeClr val="dk1"/>
                </a:solidFill>
              </a:rPr>
              <a:t>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Large coupling to the bath (𝜅 ≫ 0)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Infinite coupling to the bath (𝜅→</a:t>
            </a:r>
            <a:r>
              <a:rPr lang="en-US" sz="1600" b="1" dirty="0">
                <a:solidFill>
                  <a:srgbClr val="5F636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-US" sz="1600" dirty="0">
                <a:solidFill>
                  <a:schemeClr val="dk1"/>
                </a:solidFill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In calculation of tempreture fluctuation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W</a:t>
            </a:r>
            <a:r>
              <a:rPr lang="en" sz="1600" dirty="0">
                <a:solidFill>
                  <a:schemeClr val="dk1"/>
                </a:solidFill>
              </a:rPr>
              <a:t>e use</a:t>
            </a:r>
            <a:endParaRPr lang="en-US" sz="1600" dirty="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US" sz="1600" dirty="0">
                <a:solidFill>
                  <a:srgbClr val="000000"/>
                </a:solidFill>
              </a:rPr>
              <a:t>Mean temperature</a:t>
            </a:r>
            <a:br>
              <a:rPr lang="en-US" sz="1600" dirty="0">
                <a:solidFill>
                  <a:srgbClr val="000000"/>
                </a:solidFill>
              </a:rPr>
            </a:br>
            <a:endParaRPr lang="en-US" sz="1600" dirty="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US" sz="1600" dirty="0">
                <a:solidFill>
                  <a:srgbClr val="000000"/>
                </a:solidFill>
              </a:rPr>
              <a:t>Standard deviation of temperature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5088" y="2275850"/>
            <a:ext cx="4388249" cy="176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6950" y="861975"/>
            <a:ext cx="4004525" cy="149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6363" y="147637"/>
            <a:ext cx="967625" cy="27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97233" y="147637"/>
            <a:ext cx="1497125" cy="223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5"/>
          <p:cNvCxnSpPr/>
          <p:nvPr/>
        </p:nvCxnSpPr>
        <p:spPr>
          <a:xfrm>
            <a:off x="6825500" y="419650"/>
            <a:ext cx="0" cy="45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" name="Google Shape;81;p15"/>
          <p:cNvSpPr txBox="1"/>
          <p:nvPr/>
        </p:nvSpPr>
        <p:spPr>
          <a:xfrm>
            <a:off x="5095100" y="3989450"/>
            <a:ext cx="3685500" cy="10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𝜅: Coupling to a cold bosonic bath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𝜔: Cavity transition frequency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ꭥ: Pumping rate to the cavity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𝛾: coupling to the virtual thermometer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5232075" y="451200"/>
            <a:ext cx="17643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Photon displacement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43809" y="3393119"/>
            <a:ext cx="1457575" cy="29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00634" y="4330975"/>
            <a:ext cx="2300750" cy="379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0882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120950" y="90775"/>
            <a:ext cx="8932200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Google Shape;88;p1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6900" y="682425"/>
                <a:ext cx="8966100" cy="4369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 fontScale="92500" lnSpcReduction="10000"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dirty="0">
                    <a:solidFill>
                      <a:srgbClr val="000000"/>
                    </a:solidFill>
                  </a:rPr>
                  <a:t>Numerical results for temperature fluctuation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Here you can see the numerical results for perturbative regime </a:t>
                </a:r>
                <a:r>
                  <a:rPr lang="en-US" sz="1600" dirty="0">
                    <a:solidFill>
                      <a:schemeClr val="dk1"/>
                    </a:solidFill>
                  </a:rPr>
                  <a:t>(𝜅→0</a:t>
                </a:r>
                <a:r>
                  <a:rPr lang="en-US" sz="1600" baseline="30000" dirty="0">
                    <a:solidFill>
                      <a:schemeClr val="dk1"/>
                    </a:solidFill>
                  </a:rPr>
                  <a:t>+</a:t>
                </a:r>
                <a:r>
                  <a:rPr lang="en-US" sz="1600" dirty="0">
                    <a:solidFill>
                      <a:schemeClr val="dk1"/>
                    </a:solidFill>
                  </a:rPr>
                  <a:t>)</a:t>
                </a:r>
                <a:r>
                  <a:rPr lang="en-US" sz="1600" dirty="0">
                    <a:solidFill>
                      <a:srgbClr val="000000"/>
                    </a:solidFill>
                  </a:rPr>
                  <a:t> and finite coupling to bath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&gt;0)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</a:rPr>
                  <a:t> 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Take out messages:</a:t>
                </a:r>
              </a:p>
              <a:p>
                <a:pPr marL="274320" lvl="0" indent="-274320">
                  <a:buClr>
                    <a:srgbClr val="000000"/>
                  </a:buClr>
                  <a:buSzPts val="1500"/>
                  <a:buAutoNum type="arabicPeriod"/>
                </a:pPr>
                <a:r>
                  <a:rPr lang="en-US" sz="1600" dirty="0">
                    <a:solidFill>
                      <a:srgbClr val="000000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000000"/>
                    </a:solidFill>
                  </a:rPr>
                  <a:t> case, we see that plots for different </a:t>
                </a:r>
                <a:br>
                  <a:rPr lang="en-US" sz="1600" dirty="0">
                    <a:solidFill>
                      <a:srgbClr val="000000"/>
                    </a:solidFill>
                  </a:rPr>
                </a:br>
                <a:r>
                  <a:rPr lang="en-US" sz="1600" dirty="0">
                    <a:solidFill>
                      <a:srgbClr val="000000"/>
                    </a:solidFill>
                  </a:rPr>
                  <a:t>systems sizes crosses at a single point. On the </a:t>
                </a:r>
                <a:br>
                  <a:rPr lang="en-US" sz="1600" dirty="0">
                    <a:solidFill>
                      <a:srgbClr val="000000"/>
                    </a:solidFill>
                  </a:rPr>
                </a:br>
                <a:r>
                  <a:rPr lang="en-US" sz="1600" dirty="0">
                    <a:solidFill>
                      <a:srgbClr val="000000"/>
                    </a:solidFill>
                  </a:rPr>
                  <a:t>left side of this crossing we have possible saturation </a:t>
                </a:r>
                <a:br>
                  <a:rPr lang="en-US" sz="1600" dirty="0">
                    <a:solidFill>
                      <a:srgbClr val="000000"/>
                    </a:solidFill>
                  </a:rPr>
                </a:br>
                <a:r>
                  <a:rPr lang="en-US" sz="1600" dirty="0">
                    <a:solidFill>
                      <a:srgbClr val="000000"/>
                    </a:solidFill>
                  </a:rPr>
                  <a:t>and finite value of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sz="16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16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6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6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600" dirty="0">
                    <a:solidFill>
                      <a:schemeClr val="dk1"/>
                    </a:solidFill>
                  </a:rPr>
                  <a:t> which is expected for small</a:t>
                </a:r>
                <a:br>
                  <a:rPr lang="en-US" sz="1600" dirty="0">
                    <a:solidFill>
                      <a:schemeClr val="dk1"/>
                    </a:solidFill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</a:rPr>
                  <a:t>, since we expect the system to be MBL for small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274320" lvl="0" indent="-274320">
                  <a:buClr>
                    <a:srgbClr val="000000"/>
                  </a:buClr>
                  <a:buSzPts val="1500"/>
                  <a:buAutoNum type="arabicPeriod"/>
                </a:pPr>
                <a:r>
                  <a:rPr lang="en-US" sz="1600" dirty="0">
                    <a:solidFill>
                      <a:srgbClr val="000000"/>
                    </a:solidFill>
                  </a:rPr>
                  <a:t>For the same regime after crossing (large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</a:rPr>
                  <a:t>), the data</a:t>
                </a:r>
                <a:br>
                  <a:rPr lang="en-US" sz="1600" dirty="0">
                    <a:solidFill>
                      <a:srgbClr val="000000"/>
                    </a:solidFill>
                  </a:rPr>
                </a:br>
                <a:r>
                  <a:rPr lang="en-US" sz="1600" dirty="0">
                    <a:solidFill>
                      <a:srgbClr val="000000"/>
                    </a:solidFill>
                  </a:rPr>
                  <a:t>shows a system size dependent, and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sz="16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16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6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6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600" dirty="0">
                    <a:solidFill>
                      <a:schemeClr val="dk1"/>
                    </a:solidFill>
                  </a:rPr>
                  <a:t> gets </a:t>
                </a:r>
                <a:br>
                  <a:rPr lang="en-US" sz="1600" dirty="0">
                    <a:solidFill>
                      <a:schemeClr val="dk1"/>
                    </a:solidFill>
                  </a:rPr>
                </a:br>
                <a:r>
                  <a:rPr lang="en-US" sz="1600" dirty="0">
                    <a:solidFill>
                      <a:schemeClr val="dk1"/>
                    </a:solidFill>
                  </a:rPr>
                  <a:t>lower for larger system sizes. This is also a good </a:t>
                </a:r>
                <a:br>
                  <a:rPr lang="en-US" sz="1600" dirty="0">
                    <a:solidFill>
                      <a:schemeClr val="dk1"/>
                    </a:solidFill>
                  </a:rPr>
                </a:br>
                <a:r>
                  <a:rPr lang="en-US" sz="1600" dirty="0">
                    <a:solidFill>
                      <a:schemeClr val="dk1"/>
                    </a:solidFill>
                  </a:rPr>
                  <a:t>signature of thermal phase  </a:t>
                </a:r>
                <a:endParaRPr lang="en-US" sz="1600" dirty="0">
                  <a:solidFill>
                    <a:srgbClr val="000000"/>
                  </a:solidFill>
                </a:endParaRPr>
              </a:p>
              <a:p>
                <a:pPr marL="274320" lvl="0" indent="-274320">
                  <a:buClr>
                    <a:srgbClr val="000000"/>
                  </a:buClr>
                  <a:buSzPts val="1500"/>
                  <a:buAutoNum type="arabicPeriod"/>
                </a:pPr>
                <a:r>
                  <a:rPr lang="en-US" sz="1600" dirty="0">
                    <a:solidFill>
                      <a:srgbClr val="000000"/>
                    </a:solidFill>
                  </a:rPr>
                  <a:t>The coupling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</a:rPr>
                  <a:t>) seemingly is scales as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</m:rad>
                  </m:oMath>
                </a14:m>
                <a:r>
                  <a:rPr lang="en-US" sz="1600" b="0" dirty="0">
                    <a:solidFill>
                      <a:srgbClr val="000000"/>
                    </a:solidFill>
                  </a:rPr>
                  <a:t>, </a:t>
                </a:r>
                <a:br>
                  <a:rPr lang="en-US" sz="1600" b="0" dirty="0">
                    <a:solidFill>
                      <a:srgbClr val="000000"/>
                    </a:solidFill>
                  </a:rPr>
                </a:br>
                <a:r>
                  <a:rPr lang="en-US" sz="1600" b="0" dirty="0">
                    <a:solidFill>
                      <a:srgbClr val="000000"/>
                    </a:solidFill>
                  </a:rPr>
                  <a:t>according to this numeric for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000000"/>
                    </a:solidFill>
                  </a:rPr>
                  <a:t> </a:t>
                </a:r>
                <a:endParaRPr lang="en-US" sz="1600" b="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88" name="Google Shape;88;p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6900" y="682425"/>
                <a:ext cx="8966100" cy="4369800"/>
              </a:xfrm>
              <a:prstGeom prst="rect">
                <a:avLst/>
              </a:prstGeom>
              <a:blipFill>
                <a:blip r:embed="rId3"/>
                <a:stretch>
                  <a:fillRect l="-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5175" y="1932221"/>
            <a:ext cx="4087974" cy="314692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6228500" y="1932225"/>
            <a:ext cx="6993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𝜅 → 0</a:t>
            </a:r>
            <a:r>
              <a:rPr lang="en" sz="1100" baseline="30000">
                <a:solidFill>
                  <a:srgbClr val="FF0000"/>
                </a:solidFill>
              </a:rPr>
              <a:t>+</a:t>
            </a:r>
            <a:endParaRPr sz="1100">
              <a:solidFill>
                <a:srgbClr val="FF0000"/>
              </a:solidFill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8213475" y="1932225"/>
            <a:ext cx="6993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𝜅 = 1</a:t>
            </a:r>
            <a:endParaRPr sz="1100">
              <a:solidFill>
                <a:srgbClr val="FF0000"/>
              </a:solidFill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6228500" y="3433525"/>
            <a:ext cx="6993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𝜅 = 10</a:t>
            </a:r>
            <a:endParaRPr sz="1100">
              <a:solidFill>
                <a:srgbClr val="FF0000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8068650" y="3433525"/>
            <a:ext cx="9300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𝜅 = 100</a:t>
            </a:r>
            <a:endParaRPr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120950" y="90775"/>
            <a:ext cx="8932200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Google Shape;88;p1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6900" y="682425"/>
                <a:ext cx="8966100" cy="4369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Numerical results for temperature fluctuation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Here you can see the numerical results for perturbative regime </a:t>
                </a:r>
                <a:r>
                  <a:rPr lang="en-US" sz="1500" dirty="0">
                    <a:solidFill>
                      <a:schemeClr val="dk1"/>
                    </a:solidFill>
                    <a:latin typeface="+mj-lt"/>
                  </a:rPr>
                  <a:t>(𝜅→0</a:t>
                </a:r>
                <a:r>
                  <a:rPr lang="en-US" sz="1500" baseline="30000" dirty="0">
                    <a:solidFill>
                      <a:schemeClr val="dk1"/>
                    </a:solidFill>
                    <a:latin typeface="+mj-lt"/>
                  </a:rPr>
                  <a:t>+</a:t>
                </a:r>
                <a:r>
                  <a:rPr lang="en-US" sz="1500" dirty="0">
                    <a:solidFill>
                      <a:schemeClr val="dk1"/>
                    </a:solidFill>
                    <a:latin typeface="+mj-lt"/>
                  </a:rPr>
                  <a:t>)</a:t>
                </a:r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 and finite 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sz="1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&gt;0)</m:t>
                    </m:r>
                  </m:oMath>
                </a14:m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 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Take out messages:</a:t>
                </a:r>
              </a:p>
              <a:p>
                <a:pPr marL="342900" lvl="0">
                  <a:buClr>
                    <a:srgbClr val="000000"/>
                  </a:buClr>
                  <a:buSzPts val="1500"/>
                  <a:buAutoNum type="arabicPeriod" startAt="4"/>
                </a:pPr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For finite and large 𝜅 we neither have crossing</a:t>
                </a:r>
                <a:br>
                  <a:rPr lang="en-US" sz="1500" dirty="0">
                    <a:solidFill>
                      <a:srgbClr val="000000"/>
                    </a:solidFill>
                    <a:latin typeface="+mj-lt"/>
                  </a:rPr>
                </a:br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of data point nor saturating 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sz="1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1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. For </a:t>
                </a:r>
                <a14:m>
                  <m:oMath xmlns:m="http://schemas.openxmlformats.org/officeDocument/2006/math">
                    <m:r>
                      <a:rPr lang="en-US" sz="1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sz="1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, we see </a:t>
                </a:r>
                <a:br>
                  <a:rPr lang="en-US" sz="1500" dirty="0">
                    <a:solidFill>
                      <a:srgbClr val="000000"/>
                    </a:solidFill>
                    <a:latin typeface="+mj-lt"/>
                  </a:rPr>
                </a:br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same magnitude of temperature fluctuation as in </a:t>
                </a:r>
                <a:br>
                  <a:rPr lang="en-US" sz="1500" dirty="0">
                    <a:solidFill>
                      <a:srgbClr val="000000"/>
                    </a:solidFill>
                    <a:latin typeface="+mj-lt"/>
                  </a:rPr>
                </a:br>
                <a:r>
                  <a:rPr lang="en-US" sz="1500" dirty="0">
                    <a:solidFill>
                      <a:schemeClr val="dk1"/>
                    </a:solidFill>
                    <a:latin typeface="+mj-lt"/>
                  </a:rPr>
                  <a:t>(𝜅→0</a:t>
                </a:r>
                <a:r>
                  <a:rPr lang="en-US" sz="1500" baseline="30000" dirty="0">
                    <a:solidFill>
                      <a:schemeClr val="dk1"/>
                    </a:solidFill>
                    <a:latin typeface="+mj-lt"/>
                  </a:rPr>
                  <a:t>+</a:t>
                </a:r>
                <a:r>
                  <a:rPr lang="en-US" sz="1500" dirty="0">
                    <a:solidFill>
                      <a:schemeClr val="dk1"/>
                    </a:solidFill>
                    <a:latin typeface="+mj-lt"/>
                  </a:rPr>
                  <a:t>) but since the crossing is absent, we expect </a:t>
                </a:r>
                <a:br>
                  <a:rPr lang="en-US" sz="1500" dirty="0">
                    <a:solidFill>
                      <a:schemeClr val="dk1"/>
                    </a:solidFill>
                    <a:latin typeface="+mj-lt"/>
                  </a:rPr>
                </a:br>
                <a:r>
                  <a:rPr lang="en-US" sz="1500" dirty="0">
                    <a:solidFill>
                      <a:schemeClr val="dk1"/>
                    </a:solidFill>
                    <a:latin typeface="+mj-lt"/>
                  </a:rPr>
                  <a:t>this effect is just a finite size effect, and in the </a:t>
                </a:r>
                <a:br>
                  <a:rPr lang="en-US" sz="1500" dirty="0">
                    <a:solidFill>
                      <a:schemeClr val="dk1"/>
                    </a:solidFill>
                    <a:latin typeface="+mj-lt"/>
                  </a:rPr>
                </a:br>
                <a:r>
                  <a:rPr lang="en-US" sz="1500" dirty="0">
                    <a:solidFill>
                      <a:schemeClr val="dk1"/>
                    </a:solidFill>
                    <a:latin typeface="+mj-lt"/>
                  </a:rPr>
                  <a:t>thermodynamics limit, for even small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 b="0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 the </a:t>
                </a:r>
                <a:br>
                  <a:rPr lang="en-US" sz="1500" dirty="0">
                    <a:solidFill>
                      <a:srgbClr val="000000"/>
                    </a:solidFill>
                    <a:latin typeface="+mj-lt"/>
                  </a:rPr>
                </a:br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system will be immediately thermalized.</a:t>
                </a:r>
              </a:p>
              <a:p>
                <a:pPr marL="342900" lvl="0">
                  <a:buClr>
                    <a:srgbClr val="000000"/>
                  </a:buClr>
                  <a:buSzPts val="1500"/>
                  <a:buAutoNum type="arabicPeriod" startAt="4"/>
                </a:pPr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As evident from data, when we go to larger 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br>
                  <a:rPr lang="en-US" sz="1500" dirty="0">
                    <a:solidFill>
                      <a:srgbClr val="000000"/>
                    </a:solidFill>
                    <a:latin typeface="+mj-lt"/>
                  </a:rPr>
                </a:br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temperature fluctuation tends to get smaller which </a:t>
                </a:r>
                <a:br>
                  <a:rPr lang="en-US" sz="1500" dirty="0">
                    <a:solidFill>
                      <a:srgbClr val="000000"/>
                    </a:solidFill>
                    <a:latin typeface="+mj-lt"/>
                  </a:rPr>
                </a:br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indicate the absence of localization.</a:t>
                </a:r>
                <a:endParaRPr sz="1500" dirty="0">
                  <a:solidFill>
                    <a:srgbClr val="0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8" name="Google Shape;88;p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6900" y="682425"/>
                <a:ext cx="8966100" cy="4369800"/>
              </a:xfrm>
              <a:prstGeom prst="rect">
                <a:avLst/>
              </a:prstGeom>
              <a:blipFill>
                <a:blip r:embed="rId3"/>
                <a:stretch>
                  <a:fillRect l="-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5175" y="1932221"/>
            <a:ext cx="4087974" cy="314692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6228500" y="1932225"/>
            <a:ext cx="6993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𝜅 → 0</a:t>
            </a:r>
            <a:r>
              <a:rPr lang="en" sz="1100" baseline="30000">
                <a:solidFill>
                  <a:srgbClr val="FF0000"/>
                </a:solidFill>
              </a:rPr>
              <a:t>+</a:t>
            </a:r>
            <a:endParaRPr sz="1100">
              <a:solidFill>
                <a:srgbClr val="FF0000"/>
              </a:solidFill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8213475" y="1932225"/>
            <a:ext cx="6993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𝜅 = 1</a:t>
            </a:r>
            <a:endParaRPr sz="1100">
              <a:solidFill>
                <a:srgbClr val="FF0000"/>
              </a:solidFill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6228500" y="3433525"/>
            <a:ext cx="6993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𝜅 = 10</a:t>
            </a:r>
            <a:endParaRPr sz="1100">
              <a:solidFill>
                <a:srgbClr val="FF0000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8068650" y="3433525"/>
            <a:ext cx="9300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𝜅 = 100</a:t>
            </a:r>
            <a:endParaRPr sz="11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447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120950" y="90775"/>
            <a:ext cx="8932200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Challenges</a:t>
            </a:r>
            <a:endParaRPr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Google Shape;88;p1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6900" y="682425"/>
                <a:ext cx="8966100" cy="4369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In theoretical description we are facing difficulties in addressing the non-zero fluctuation in the thermal and MBL/Thermal phase when </a:t>
                </a:r>
                <a:r>
                  <a:rPr lang="en-US" sz="1500" dirty="0">
                    <a:solidFill>
                      <a:schemeClr val="dk1"/>
                    </a:solidFill>
                    <a:latin typeface="+mj-lt"/>
                  </a:rPr>
                  <a:t>(</a:t>
                </a:r>
                <a14:m>
                  <m:oMath xmlns:m="http://schemas.openxmlformats.org/officeDocument/2006/math">
                    <m:r>
                      <a:rPr lang="en-US" sz="15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sz="15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15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15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500" dirty="0">
                    <a:solidFill>
                      <a:schemeClr val="dk1"/>
                    </a:solidFill>
                    <a:latin typeface="+mj-lt"/>
                  </a:rPr>
                  <a:t>). Our analytical approaches so far were to use high frequency expansion and </a:t>
                </a:r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perturbation theory to find the density matrix (Section S3 in “cavityMBL_SM.pdf” file), which has some ambiguity. The same description cannot justify the non-zero fluctuation on thermal phase.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500" dirty="0">
                  <a:solidFill>
                    <a:srgbClr val="000000"/>
                  </a:solidFill>
                  <a:latin typeface="+mj-lt"/>
                </a:endParaRPr>
              </a:p>
              <a:p>
                <a:pPr marL="0" lvl="0" indent="0">
                  <a:buNone/>
                </a:pPr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We have been trying to use different method, but we </a:t>
                </a:r>
                <a:br>
                  <a:rPr lang="en-US" sz="1500" dirty="0">
                    <a:solidFill>
                      <a:srgbClr val="000000"/>
                    </a:solidFill>
                    <a:latin typeface="+mj-lt"/>
                  </a:rPr>
                </a:br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like to hear your opinion on this problem. Our analytics,</a:t>
                </a:r>
                <a:br>
                  <a:rPr lang="en-US" sz="1500" dirty="0">
                    <a:solidFill>
                      <a:srgbClr val="000000"/>
                    </a:solidFill>
                    <a:latin typeface="+mj-lt"/>
                  </a:rPr>
                </a:br>
                <a:r>
                  <a:rPr lang="en-US" sz="1500" dirty="0">
                    <a:solidFill>
                      <a:srgbClr val="000000"/>
                    </a:solidFill>
                    <a:latin typeface="+mj-lt"/>
                  </a:rPr>
                  <a:t>can justify </a:t>
                </a:r>
                <a:r>
                  <a:rPr lang="en-US" sz="1500" dirty="0">
                    <a:solidFill>
                      <a:schemeClr val="dk1"/>
                    </a:solidFill>
                    <a:latin typeface="+mj-lt"/>
                  </a:rPr>
                  <a:t>(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sz="15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1500" dirty="0">
                    <a:solidFill>
                      <a:schemeClr val="dk1"/>
                    </a:solidFill>
                    <a:latin typeface="+mj-lt"/>
                  </a:rPr>
                  <a:t>), but we the same ide doesn’t apply to </a:t>
                </a:r>
                <a:br>
                  <a:rPr lang="en-US" sz="1500" dirty="0">
                    <a:solidFill>
                      <a:schemeClr val="dk1"/>
                    </a:solidFill>
                    <a:latin typeface="+mj-lt"/>
                  </a:rPr>
                </a:br>
                <a:r>
                  <a:rPr lang="en-US" sz="1500" dirty="0">
                    <a:solidFill>
                      <a:schemeClr val="dk1"/>
                    </a:solidFill>
                    <a:latin typeface="+mj-lt"/>
                  </a:rPr>
                  <a:t>(</a:t>
                </a:r>
                <a14:m>
                  <m:oMath xmlns:m="http://schemas.openxmlformats.org/officeDocument/2006/math">
                    <m:r>
                      <a:rPr lang="en-US" sz="1500" i="1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sz="1500" i="1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15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15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500" dirty="0">
                    <a:solidFill>
                      <a:schemeClr val="dk1"/>
                    </a:solidFill>
                    <a:latin typeface="+mj-lt"/>
                  </a:rPr>
                  <a:t>)</a:t>
                </a:r>
                <a:endParaRPr sz="1500" dirty="0">
                  <a:solidFill>
                    <a:srgbClr val="00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88" name="Google Shape;88;p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6900" y="682425"/>
                <a:ext cx="8966100" cy="4369800"/>
              </a:xfrm>
              <a:prstGeom prst="rect">
                <a:avLst/>
              </a:prstGeom>
              <a:blipFill>
                <a:blip r:embed="rId3"/>
                <a:stretch>
                  <a:fillRect l="-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5175" y="1932221"/>
            <a:ext cx="4087974" cy="314692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6228500" y="1932225"/>
            <a:ext cx="6993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0000"/>
                </a:solidFill>
              </a:rPr>
              <a:t>𝜅 → 0</a:t>
            </a:r>
            <a:r>
              <a:rPr lang="en" sz="1100" baseline="30000" dirty="0">
                <a:solidFill>
                  <a:srgbClr val="FF0000"/>
                </a:solidFill>
              </a:rPr>
              <a:t>+</a:t>
            </a:r>
            <a:endParaRPr sz="1100" dirty="0">
              <a:solidFill>
                <a:srgbClr val="FF0000"/>
              </a:solidFill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8213475" y="1932225"/>
            <a:ext cx="6993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𝜅 = 1</a:t>
            </a:r>
            <a:endParaRPr sz="1100">
              <a:solidFill>
                <a:srgbClr val="FF0000"/>
              </a:solidFill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6228500" y="3433525"/>
            <a:ext cx="6993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𝜅 = 10</a:t>
            </a:r>
            <a:endParaRPr sz="1100">
              <a:solidFill>
                <a:srgbClr val="FF0000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8068650" y="3433525"/>
            <a:ext cx="9300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</a:rPr>
              <a:t>𝜅 = 100</a:t>
            </a:r>
            <a:endParaRPr sz="11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497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120950" y="90775"/>
            <a:ext cx="8932200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body" idx="1"/>
          </p:nvPr>
        </p:nvSpPr>
        <p:spPr>
          <a:xfrm>
            <a:off x="86900" y="682425"/>
            <a:ext cx="8966100" cy="43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4521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120950" y="90775"/>
            <a:ext cx="8932200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body" idx="1"/>
          </p:nvPr>
        </p:nvSpPr>
        <p:spPr>
          <a:xfrm>
            <a:off x="86900" y="682425"/>
            <a:ext cx="8966100" cy="43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31762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1026</Words>
  <Application>Microsoft Office PowerPoint</Application>
  <PresentationFormat>On-screen Show (16:9)</PresentationFormat>
  <Paragraphs>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Arial</vt:lpstr>
      <vt:lpstr>SFBX1200</vt:lpstr>
      <vt:lpstr>Cambria Math</vt:lpstr>
      <vt:lpstr>Roboto</vt:lpstr>
      <vt:lpstr>Simple Light</vt:lpstr>
      <vt:lpstr>Many-body localization in a driven-dissipative cavity mode </vt:lpstr>
      <vt:lpstr>Motivation</vt:lpstr>
      <vt:lpstr>Open cavity model</vt:lpstr>
      <vt:lpstr>Open cavity model</vt:lpstr>
      <vt:lpstr>Open cavity model</vt:lpstr>
      <vt:lpstr>Results</vt:lpstr>
      <vt:lpstr>Results</vt:lpstr>
      <vt:lpstr>Challenges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Saeed R</cp:lastModifiedBy>
  <cp:revision>5</cp:revision>
  <dcterms:modified xsi:type="dcterms:W3CDTF">2024-06-14T13:54:43Z</dcterms:modified>
</cp:coreProperties>
</file>